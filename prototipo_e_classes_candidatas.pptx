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630FC-4C88-1397-3517-0C6CCAC7F973}" v="4" dt="2026-09-11T02:34:46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Cruz" userId="8fe67f0437776208" providerId="Windows Live" clId="Web-{276630FC-4C88-1397-3517-0C6CCAC7F973}"/>
    <pc:docChg chg="modSld">
      <pc:chgData name="Eduardo Cruz" userId="8fe67f0437776208" providerId="Windows Live" clId="Web-{276630FC-4C88-1397-3517-0C6CCAC7F973}" dt="2026-09-11T02:34:46.482" v="3" actId="1076"/>
      <pc:docMkLst>
        <pc:docMk/>
      </pc:docMkLst>
      <pc:sldChg chg="delSp">
        <pc:chgData name="Eduardo Cruz" userId="8fe67f0437776208" providerId="Windows Live" clId="Web-{276630FC-4C88-1397-3517-0C6CCAC7F973}" dt="2026-09-11T02:33:15.197" v="0"/>
        <pc:sldMkLst>
          <pc:docMk/>
          <pc:sldMk cId="0" sldId="256"/>
        </pc:sldMkLst>
        <pc:spChg chg="del">
          <ac:chgData name="Eduardo Cruz" userId="8fe67f0437776208" providerId="Windows Live" clId="Web-{276630FC-4C88-1397-3517-0C6CCAC7F973}" dt="2026-09-11T02:33:15.197" v="0"/>
          <ac:spMkLst>
            <pc:docMk/>
            <pc:sldMk cId="0" sldId="256"/>
            <ac:spMk id="5" creationId="{00000000-0000-0000-0000-000000000000}"/>
          </ac:spMkLst>
        </pc:spChg>
      </pc:sldChg>
      <pc:sldChg chg="delSp">
        <pc:chgData name="Eduardo Cruz" userId="8fe67f0437776208" providerId="Windows Live" clId="Web-{276630FC-4C88-1397-3517-0C6CCAC7F973}" dt="2026-09-11T02:33:24.104" v="1"/>
        <pc:sldMkLst>
          <pc:docMk/>
          <pc:sldMk cId="0" sldId="257"/>
        </pc:sldMkLst>
        <pc:spChg chg="del">
          <ac:chgData name="Eduardo Cruz" userId="8fe67f0437776208" providerId="Windows Live" clId="Web-{276630FC-4C88-1397-3517-0C6CCAC7F973}" dt="2026-09-11T02:33:24.104" v="1"/>
          <ac:spMkLst>
            <pc:docMk/>
            <pc:sldMk cId="0" sldId="257"/>
            <ac:spMk id="26" creationId="{00000000-0000-0000-0000-000000000000}"/>
          </ac:spMkLst>
        </pc:spChg>
      </pc:sldChg>
      <pc:sldChg chg="delSp modSp">
        <pc:chgData name="Eduardo Cruz" userId="8fe67f0437776208" providerId="Windows Live" clId="Web-{276630FC-4C88-1397-3517-0C6CCAC7F973}" dt="2026-09-11T02:34:46.482" v="3" actId="1076"/>
        <pc:sldMkLst>
          <pc:docMk/>
          <pc:sldMk cId="0" sldId="263"/>
        </pc:sldMkLst>
        <pc:spChg chg="del">
          <ac:chgData name="Eduardo Cruz" userId="8fe67f0437776208" providerId="Windows Live" clId="Web-{276630FC-4C88-1397-3517-0C6CCAC7F973}" dt="2026-09-11T02:34:35.872" v="2"/>
          <ac:spMkLst>
            <pc:docMk/>
            <pc:sldMk cId="0" sldId="263"/>
            <ac:spMk id="23" creationId="{00000000-0000-0000-0000-000000000000}"/>
          </ac:spMkLst>
        </pc:spChg>
        <pc:spChg chg="mod">
          <ac:chgData name="Eduardo Cruz" userId="8fe67f0437776208" providerId="Windows Live" clId="Web-{276630FC-4C88-1397-3517-0C6CCAC7F973}" dt="2026-09-11T02:34:46.482" v="3" actId="1076"/>
          <ac:spMkLst>
            <pc:docMk/>
            <pc:sldMk cId="0" sldId="263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B4CCD-399A-4304-8D20-AF8BE8D7092F}" type="datetimeFigureOut">
              <a:t>10/09/2026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D3C3D-1DD6-4BCF-AA1D-38C653609AE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41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 w="12700">
            <a:solidFill>
              <a:srgbClr val="FFF8E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D4F"/>
                </a:solidFill>
              </a:rPr>
              <a:t>Entrega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Storyboard do Fluxo Principal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30936" y="180136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Serviço de Assinatura de Marmitas — Minha Refeição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28432" y="685800"/>
            <a:ext cx="2926080" cy="5394960"/>
          </a:xfrm>
          <a:prstGeom prst="roundRect">
            <a:avLst>
              <a:gd name="adj" fmla="val 2500"/>
            </a:avLst>
          </a:prstGeom>
          <a:solidFill>
            <a:srgbClr val="112018"/>
          </a:solidFill>
          <a:ln w="10160">
            <a:solidFill>
              <a:srgbClr val="11201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47304" y="841248"/>
            <a:ext cx="2688336" cy="5084064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39328" y="1060704"/>
            <a:ext cx="2304288" cy="356616"/>
          </a:xfrm>
          <a:prstGeom prst="roundRect">
            <a:avLst>
              <a:gd name="adj" fmla="val 20513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32520" y="16733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🍱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394192" y="2359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A2E"/>
                </a:solidFill>
              </a:rPr>
              <a:t>Assine suas marmitas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3A2E"/>
                </a:solidFill>
              </a:rPr>
              <a:t>em poucos passos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22208" y="3246120"/>
            <a:ext cx="1938528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DFF1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plano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22208" y="3749040"/>
            <a:ext cx="1938528" cy="384048"/>
          </a:xfrm>
          <a:prstGeom prst="roundRect">
            <a:avLst>
              <a:gd name="adj" fmla="val 19048"/>
            </a:avLst>
          </a:prstGeom>
          <a:solidFill>
            <a:srgbClr val="FFE2B8"/>
          </a:solidFill>
          <a:ln w="10160">
            <a:solidFill>
              <a:srgbClr val="FFE2B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 refeições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22208" y="4251960"/>
            <a:ext cx="1938528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DFF1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pagamento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Protótipo navegável em sequência de telas — caminho feliz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 de navegação do caminho feliz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Cenário sem erros: código válido, seleção dentro do plano e pagamento autorizado.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DFF1E6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Celular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929384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313432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SMS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59352" y="1929384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78224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DFF1E6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24144" y="1929384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843016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Preferências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88936" y="1929384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607808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DFF1E6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53728" y="1929384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372600" y="164592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86416" y="2258568"/>
            <a:ext cx="0" cy="749808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48640" y="31272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DFF1E6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Sobremesas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410712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13432" y="31272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59352" y="3410712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078224" y="31272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DFF1E6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Endereço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24144" y="3410712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843016" y="31272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6DAC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88936" y="3410712"/>
            <a:ext cx="8229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07808" y="31272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Confirmação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Storyboard — sequência geral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Validação do assinante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Primeiras telas: informar celular, receber SMS e confirmar o código recebido.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408176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" y="1490472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9536" y="1892808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Informar celular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de celular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(11) 99999-0000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68680" y="3236976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Será enviado um código por SMS.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069848" y="5285232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código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246120" y="3566160"/>
            <a:ext cx="640080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69080" y="1325880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1408176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97096" y="1490472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42816" y="1892808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Validar SMS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251960" y="22860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Digite o código recebido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251960" y="27432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●  ●  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3291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válido para continuar.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453128" y="5285232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código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629400" y="3566160"/>
            <a:ext cx="640080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452360" y="1325880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16368" y="1408176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0376" y="1490472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26096" y="1892808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Código validado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635240" y="22860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Celular confirmado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635240" y="28346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libera a escolha do plano de assinatura.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836408" y="5285232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60120" y="6053328"/>
            <a:ext cx="9829800" cy="384048"/>
          </a:xfrm>
          <a:prstGeom prst="roundRect">
            <a:avLst>
              <a:gd name="adj" fmla="val 19048"/>
            </a:avLst>
          </a:prstGeom>
          <a:solidFill>
            <a:srgbClr val="FFE2B8"/>
          </a:solidFill>
          <a:ln w="10160">
            <a:solidFill>
              <a:srgbClr val="FFE2B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Transição: após a validação, o sistema apresenta os planos disponíveis.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Telas 1 a 3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Escolha do plano e preferências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 assinante escolhe o plano e registra suas preferências alimentares.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307592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07008" y="1472184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52728" y="1874520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Planos disponíveis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261872" y="2267712"/>
            <a:ext cx="2057400" cy="493776"/>
          </a:xfrm>
          <a:prstGeom prst="roundRect">
            <a:avLst>
              <a:gd name="adj" fmla="val 14815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Semanal</a:t>
            </a:r>
            <a:endParaRPr lang="en-US" sz="8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refeições • R$ 129,90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261872" y="2871216"/>
            <a:ext cx="2057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refeições • R$ 459,90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261872" y="3474720"/>
            <a:ext cx="2057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Personalizado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Escolha quantidade e período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463040" y="5266944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 plano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703320" y="3547872"/>
            <a:ext cx="667512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0" y="1307592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6008" y="1389888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1472184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45736" y="1874520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Confirmar plano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754880" y="2267712"/>
            <a:ext cx="2057400" cy="393192"/>
          </a:xfrm>
          <a:prstGeom prst="roundRect">
            <a:avLst>
              <a:gd name="adj" fmla="val 18605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semanal selecionado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754880" y="2770632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Quantidade: 5 refeições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Periodicidade: semanal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754880" y="3630168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Valor: R$ 129,90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956048" y="5266944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196328" y="3547872"/>
            <a:ext cx="667512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065008" y="1307592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29016" y="1389888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93024" y="1472184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38744" y="1874520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Preferências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247888" y="226771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Selecione suas preferências: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247888" y="2724912"/>
            <a:ext cx="2057400" cy="338328"/>
          </a:xfrm>
          <a:prstGeom prst="roundRect">
            <a:avLst>
              <a:gd name="adj" fmla="val 216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Tradicional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247888" y="3172968"/>
            <a:ext cx="205740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Vegetariana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8247888" y="3621024"/>
            <a:ext cx="205740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lactose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449056" y="5266944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preferências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143000" y="6053328"/>
            <a:ext cx="9765792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DFF1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do fluxo: as opções exibidas depois devem considerar plano + preferências.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Telas 4 a 6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Seleção das refeições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 sistema monta o pedido com pratos principais, acompanhamentos e sobremesas.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380744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" y="1463040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9536" y="1865376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Pratos principais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Pratos compatíveis com o plano: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68680" y="27157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Frango grelhado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Carne de panela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Panqueca integral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868680" y="403250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 5 refeições selecionadas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069848" y="5257800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Adicionar pratos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246120" y="3547872"/>
            <a:ext cx="640080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69080" y="1298448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33088" y="1380744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97096" y="1463040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42816" y="1865376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Acompanhamentos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251960" y="22585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Escolha acompanhamentos: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251960" y="2715768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Arroz integral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251960" y="3163824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Legumes assados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4251960" y="3611880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Purê de batata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4251960" y="405993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Seleção salva no pedido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453128" y="5257800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Adicionar acomp.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629400" y="3547872"/>
            <a:ext cx="640080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452360" y="1298448"/>
            <a:ext cx="2377440" cy="4526280"/>
          </a:xfrm>
          <a:prstGeom prst="roundRect">
            <a:avLst>
              <a:gd name="adj" fmla="val 3077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16368" y="1380744"/>
            <a:ext cx="2249424" cy="436168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0376" y="1463040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26096" y="1865376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Sobremesas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635240" y="22585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Sobremesas disponíveis: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635240" y="2715768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Pudim zero açúcar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635240" y="3163824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Fruta da estação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7635240" y="3611880"/>
            <a:ext cx="2011680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Mousse de maracujá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635240" y="405993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do limite do plano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836408" y="5257800"/>
            <a:ext cx="160934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Adicionar sobremesas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87552" y="6053328"/>
            <a:ext cx="9784080" cy="384048"/>
          </a:xfrm>
          <a:prstGeom prst="roundRect">
            <a:avLst>
              <a:gd name="adj" fmla="val 19048"/>
            </a:avLst>
          </a:prstGeom>
          <a:solidFill>
            <a:srgbClr val="FFE2B8"/>
          </a:solidFill>
          <a:ln w="10160">
            <a:solidFill>
              <a:srgbClr val="FFE2B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caminho feliz, a quantidade escolhida permanece compatível com o limite do plano.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Telas 7 a 9</a:t>
            </a:r>
            <a:endParaRPr lang="en-US" sz="8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Resumo do pedido e endereço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Antes do pagamento, o assinante revisa a composição e informa o local de entrega.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1952" y="1298448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65960" y="1380744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29968" y="1463040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75688" y="1865376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Resumo do pedido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084832" y="2258568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semanal • 5 refeições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084832" y="2734056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Pratos, acompanhamentos e sobremesas selecionados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084832" y="3300984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Periodicidade: semanal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084832" y="3730752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parcial: R$ 129,90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286000" y="5257800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pedido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526280" y="3547872"/>
            <a:ext cx="704088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40680" y="1298448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1380744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68696" y="1463040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14416" y="1865376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Endereço de entrega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623560" y="225856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Rua / Avenida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623560" y="267919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e complemento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623560" y="3099816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Bairro e cidade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623560" y="3520440"/>
            <a:ext cx="2057400" cy="402336"/>
          </a:xfrm>
          <a:prstGeom prst="roundRect">
            <a:avLst>
              <a:gd name="adj" fmla="val 18182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Previsão da 1ª entrega: 3 dias úteis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5824728" y="5257800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endereço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074152" y="3547872"/>
            <a:ext cx="676656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961120" y="1298448"/>
            <a:ext cx="2423160" cy="4526280"/>
          </a:xfrm>
          <a:prstGeom prst="roundRect">
            <a:avLst>
              <a:gd name="adj" fmla="val 301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25128" y="1380744"/>
            <a:ext cx="2295144" cy="436168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89136" y="1463040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34856" y="1865376"/>
            <a:ext cx="2075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Aguardando pagamento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144000" y="225856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Endereço armazenado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9144000" y="2752344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da assinatura: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Aguardando Pagamento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144000" y="354787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etapa: dados de pagamento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345168" y="5257800"/>
            <a:ext cx="165506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 para pagamento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Telas 10 a 12</a:t>
            </a:r>
            <a:endParaRPr lang="en-US" sz="8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Pagamento e confirmação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 pagamento é autorizado e o sistema conclui a assinatura com protocolo.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298448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07008" y="1380744"/>
            <a:ext cx="2386584" cy="4361688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71016" y="1463040"/>
            <a:ext cx="225856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86537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Pagamento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325880" y="2258568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da assinatura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R$ 129,90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325880" y="2871216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do cartão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3F4F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Validade • CVV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325880" y="3712464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aguardando pagamento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527048" y="5257800"/>
            <a:ext cx="174650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Finalizar pagamento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858768" y="3547872"/>
            <a:ext cx="786384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64608" y="1298448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8616" y="1380744"/>
            <a:ext cx="2386584" cy="4361688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92624" y="1463040"/>
            <a:ext cx="225856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38344" y="186537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Autorização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047488" y="2258568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solicita autorização à operadora do cartão.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047488" y="3008376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Pagamento confirmado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047488" y="353872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 registrado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248656" y="5257800"/>
            <a:ext cx="174650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Atualizar status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589520" y="3547872"/>
            <a:ext cx="777240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595360" y="1298448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101827"/>
          </a:solidFill>
          <a:ln w="13970">
            <a:solidFill>
              <a:srgbClr val="10182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59368" y="1380744"/>
            <a:ext cx="2386584" cy="4361688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6350">
            <a:solidFill>
              <a:srgbClr val="F7F7F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23376" y="1463040"/>
            <a:ext cx="2258568" cy="274320"/>
          </a:xfrm>
          <a:prstGeom prst="roundRect">
            <a:avLst>
              <a:gd name="adj" fmla="val 26667"/>
            </a:avLst>
          </a:prstGeom>
          <a:solidFill>
            <a:srgbClr val="2F7D4F"/>
          </a:solidFill>
          <a:ln w="10160">
            <a:solidFill>
              <a:srgbClr val="2F7D4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 Refeição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69096" y="1865376"/>
            <a:ext cx="2167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</a:rPr>
              <a:t>Confirmação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778240" y="2258568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DFF1E6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ativa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778240" y="2779776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aprovado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778240" y="321868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E2B8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Protocolo: MR-2026-001245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8778240" y="3712464"/>
            <a:ext cx="2148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2E8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Plano, refeições, endereço e primeira entrega confirmados.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979408" y="5257800"/>
            <a:ext cx="1746504" cy="320040"/>
          </a:xfrm>
          <a:prstGeom prst="roundRect">
            <a:avLst>
              <a:gd name="adj" fmla="val 22857"/>
            </a:avLst>
          </a:prstGeom>
          <a:solidFill>
            <a:srgbClr val="F4A43A"/>
          </a:solidFill>
          <a:ln w="10160">
            <a:solidFill>
              <a:srgbClr val="F4A43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328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Encerrar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261872" y="6053328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DFF1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final: assinatura ativa, pedido aprovado e protocolo gerado.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Telas 13 a 15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3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Classes candidatas identificadas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Conceitos extraídos do cenário de uso para apoiar o futuro diagrama de classes de domínio.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DFF1E6"/>
          </a:solidFill>
          <a:ln w="10160">
            <a:solidFill>
              <a:srgbClr val="DFF1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e cliente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Assinante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que contrata o plano.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66928" y="26517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PlanoAssinatura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Quantidade, periodicidade e valor.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66928" y="336499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Contratação e status do plano.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566928" y="407822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PreferenciaAlimentar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Tradicional, vegetariana, sem lactose.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66928" y="479145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EnderecoEntrega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confirmado para entrega.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224528" y="1417320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FFE2B8"/>
          </a:solidFill>
          <a:ln w="10160">
            <a:solidFill>
              <a:srgbClr val="FFE2B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Cardápio e pedido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24528" y="193852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Cardapio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atualizadas disponíveis.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224528" y="26517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Composição selecionada pelo assinante.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224528" y="336499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PratoPrincipal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Refeição principal escolhida.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224528" y="407822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Complemento escolhido.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224528" y="479145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Sobremesa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de sobremesa escolhido.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882128" y="1417320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EEE7FF"/>
          </a:solidFill>
          <a:ln w="10160">
            <a:solidFill>
              <a:srgbClr val="EEE7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 e controle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82128" y="193852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da autorização e valor.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882128" y="265176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CartaoCredito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usados para pagamento.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882128" y="336499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OperadoraCartaoCredito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Ator externo de autorização.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882128" y="407822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CodigoConfirmacao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do celular por SMS.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7882128" y="479145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4DA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final da confirmação.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565550" y="550844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6C"/>
                </a:solidFill>
              </a:rPr>
              <a:t>Lista inicial de classes candidatas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A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Universidade Presbiteriana Mackenzie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Serviço de Assinatura de Marmitas</dc:title>
  <dc:subject>Entrega 1 - Storyboard e classes candidatas</dc:subject>
  <dc:creator>Eduardo Henrique de Souza Cruz</dc:creator>
  <cp:lastModifiedBy>Eduardo Henrique de Souza Cruz</cp:lastModifiedBy>
  <cp:revision>5</cp:revision>
  <dcterms:created xsi:type="dcterms:W3CDTF">2026-09-11T02:27:23Z</dcterms:created>
  <dcterms:modified xsi:type="dcterms:W3CDTF">2026-09-11T02:34:46Z</dcterms:modified>
</cp:coreProperties>
</file>